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AAC"/>
    <a:srgbClr val="C9DD65"/>
    <a:srgbClr val="A1B510"/>
    <a:srgbClr val="D1FFDC"/>
    <a:srgbClr val="AFDB4D"/>
    <a:srgbClr val="C3E773"/>
    <a:srgbClr val="B0E57F"/>
    <a:srgbClr val="CBEAC4"/>
    <a:srgbClr val="D5EC28"/>
    <a:srgbClr val="B6F8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9" d="100"/>
          <a:sy n="29" d="100"/>
        </p:scale>
        <p:origin x="420" y="-1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9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42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80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1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6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66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0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64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28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C58FC-9C74-43D4-A981-429D8711DA3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6897B-4637-46B5-86E7-E050EB6EA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2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se">
            <a:extLst>
              <a:ext uri="{FF2B5EF4-FFF2-40B4-BE49-F238E27FC236}">
                <a16:creationId xmlns:a16="http://schemas.microsoft.com/office/drawing/2014/main" id="{46E8305A-C103-B8EB-DF97-DC46FA1F7ED2}"/>
              </a:ext>
            </a:extLst>
          </p:cNvPr>
          <p:cNvSpPr>
            <a:spLocks/>
          </p:cNvSpPr>
          <p:nvPr/>
        </p:nvSpPr>
        <p:spPr>
          <a:xfrm>
            <a:off x="297656" y="200505"/>
            <a:ext cx="29679900" cy="88241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8DA14-10B6-5FEF-C85C-4ACA0C961E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54888" y="-507291"/>
            <a:ext cx="6374081" cy="52537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9E5B639-6AD7-9DC3-C2A5-416EF9624D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7656" y="200506"/>
            <a:ext cx="29665132" cy="42402751"/>
          </a:xfrm>
          <a:prstGeom prst="rect">
            <a:avLst/>
          </a:prstGeom>
          <a:noFill/>
          <a:ln w="22225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Google Shape;85;p13" hidden="1">
            <a:extLst>
              <a:ext uri="{FF2B5EF4-FFF2-40B4-BE49-F238E27FC236}">
                <a16:creationId xmlns:a16="http://schemas.microsoft.com/office/drawing/2014/main" id="{85B1EDF2-1B22-29C1-41E3-A71B8D96CDB9}"/>
              </a:ext>
            </a:extLst>
          </p:cNvPr>
          <p:cNvSpPr/>
          <p:nvPr/>
        </p:nvSpPr>
        <p:spPr>
          <a:xfrm>
            <a:off x="297656" y="281949"/>
            <a:ext cx="29679900" cy="8685070"/>
          </a:xfrm>
          <a:prstGeom prst="rect">
            <a:avLst/>
          </a:prstGeom>
          <a:blipFill dpi="0" rotWithShape="1">
            <a:blip r:embed="rId4">
              <a:alphaModFix amt="34000"/>
            </a:blip>
            <a:srcRect/>
            <a:stretch>
              <a:fillRect/>
            </a:stretch>
          </a:blipFill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3A6D5E0B-DBDE-A735-7FD5-B5C1EA2FF097}"/>
              </a:ext>
            </a:extLst>
          </p:cNvPr>
          <p:cNvSpPr txBox="1"/>
          <p:nvPr/>
        </p:nvSpPr>
        <p:spPr>
          <a:xfrm>
            <a:off x="3736138" y="5569197"/>
            <a:ext cx="2280293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 dirty="0">
                <a:solidFill>
                  <a:srgbClr val="444101"/>
                </a:solidFill>
                <a:ea typeface="Palatino Linotype"/>
                <a:cs typeface="Palatino Linotype"/>
                <a:sym typeface="Palatino Linotype"/>
              </a:rPr>
              <a:t>Poster title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500" b="0" i="0" u="none" strike="noStrike" cap="none" dirty="0">
                <a:solidFill>
                  <a:srgbClr val="44410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Author One, Author Two</a:t>
            </a:r>
            <a:endParaRPr dirty="0">
              <a:solidFill>
                <a:srgbClr val="44410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b="0" i="1" u="none" strike="noStrike" cap="none" dirty="0">
                <a:solidFill>
                  <a:srgbClr val="44410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Affiliation</a:t>
            </a:r>
            <a:endParaRPr i="1" dirty="0">
              <a:solidFill>
                <a:srgbClr val="444101"/>
              </a:solidFill>
            </a:endParaRPr>
          </a:p>
        </p:txBody>
      </p:sp>
      <p:cxnSp>
        <p:nvCxnSpPr>
          <p:cNvPr id="5" name="Google Shape;103;p13">
            <a:extLst>
              <a:ext uri="{FF2B5EF4-FFF2-40B4-BE49-F238E27FC236}">
                <a16:creationId xmlns:a16="http://schemas.microsoft.com/office/drawing/2014/main" id="{FCCD160B-6463-A221-F2F5-3E10D1AC905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22125" y="5357887"/>
            <a:ext cx="26860500" cy="0"/>
          </a:xfrm>
          <a:prstGeom prst="straightConnector1">
            <a:avLst/>
          </a:prstGeom>
          <a:noFill/>
          <a:ln w="60325" cap="flat" cmpd="sng">
            <a:solidFill>
              <a:srgbClr val="A1B51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06;p13">
            <a:extLst>
              <a:ext uri="{FF2B5EF4-FFF2-40B4-BE49-F238E27FC236}">
                <a16:creationId xmlns:a16="http://schemas.microsoft.com/office/drawing/2014/main" id="{6F46953F-1602-225D-6DD1-F90E257DCC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32767" y="3524774"/>
            <a:ext cx="18209677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Environmental Sciences and Sustainable Engineering Centre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i="1" dirty="0">
              <a:solidFill>
                <a:schemeClr val="dk1"/>
              </a:solidFill>
            </a:endParaRPr>
          </a:p>
        </p:txBody>
      </p:sp>
      <p:sp>
        <p:nvSpPr>
          <p:cNvPr id="9" name="Google Shape;113;p13">
            <a:extLst>
              <a:ext uri="{FF2B5EF4-FFF2-40B4-BE49-F238E27FC236}">
                <a16:creationId xmlns:a16="http://schemas.microsoft.com/office/drawing/2014/main" id="{1951B452-C857-7089-EB6F-CE0309EC2AC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84405" y="2483165"/>
            <a:ext cx="167064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1" dirty="0">
                <a:solidFill>
                  <a:schemeClr val="dk1"/>
                </a:solidFill>
                <a:latin typeface="+mj-lt"/>
                <a:ea typeface="Palatino Linotype"/>
                <a:cs typeface="Palatino Linotype"/>
                <a:sym typeface="Palatino Linotype"/>
              </a:rPr>
              <a:t>Indian Institute of Technology Palakkad</a:t>
            </a:r>
            <a:endParaRPr sz="5400" b="1" dirty="0">
              <a:solidFill>
                <a:schemeClr val="dk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4A2ACA-1A5A-04DC-F942-2809EB84EA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83" y="416126"/>
            <a:ext cx="3825338" cy="3406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ABF86-C4B7-3888-58B1-85DFB06371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3452" y="621966"/>
            <a:ext cx="5448306" cy="20726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5DDB856-7B4A-F1E5-B5CC-13A5441371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92588" y="4359846"/>
            <a:ext cx="268604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 i="0">
                <a:solidFill>
                  <a:schemeClr val="bg1">
                    <a:lumMod val="95000"/>
                  </a:schemeClr>
                </a:solidFill>
                <a:effectLst/>
                <a:latin typeface="Source Serif Pro" panose="020F0502020204030204" pitchFamily="18" charset="0"/>
              </a:defRPr>
            </a:lvl1pPr>
          </a:lstStyle>
          <a:p>
            <a:r>
              <a:rPr lang="en-US" sz="4800" dirty="0">
                <a:solidFill>
                  <a:schemeClr val="accent3"/>
                </a:solidFill>
                <a:latin typeface="+mn-lt"/>
              </a:rPr>
              <a:t>Symposium on Advanced Technologies and Visionary Approaches for Sustainability</a:t>
            </a:r>
            <a:endParaRPr lang="en-IN" sz="48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B096CE-AEC3-4FAB-FA48-238686F87436}"/>
              </a:ext>
            </a:extLst>
          </p:cNvPr>
          <p:cNvSpPr/>
          <p:nvPr/>
        </p:nvSpPr>
        <p:spPr>
          <a:xfrm>
            <a:off x="26018085" y="629012"/>
            <a:ext cx="3449192" cy="3406942"/>
          </a:xfrm>
          <a:prstGeom prst="rect">
            <a:avLst/>
          </a:prstGeom>
          <a:noFill/>
          <a:ln>
            <a:solidFill>
              <a:srgbClr val="A1B5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Your Institute Logo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7DE0B7-A4C8-E60C-4ACC-9749250FAD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7657" y="9094714"/>
            <a:ext cx="29679900" cy="1142640"/>
          </a:xfrm>
          <a:prstGeom prst="rect">
            <a:avLst/>
          </a:prstGeom>
          <a:solidFill>
            <a:srgbClr val="A1B510"/>
          </a:solidFill>
          <a:ln w="12700" cap="flat" cmpd="dbl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48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Pavement Sustainability Frontiers: From Materials to Maintenance</a:t>
            </a:r>
            <a:endParaRPr lang="en-IN" sz="4800" b="1" i="1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1" name="Google Shape;87;p13">
            <a:extLst>
              <a:ext uri="{FF2B5EF4-FFF2-40B4-BE49-F238E27FC236}">
                <a16:creationId xmlns:a16="http://schemas.microsoft.com/office/drawing/2014/main" id="{F098CD59-F421-2625-9C1A-21AFC2C79BED}"/>
              </a:ext>
            </a:extLst>
          </p:cNvPr>
          <p:cNvSpPr/>
          <p:nvPr/>
        </p:nvSpPr>
        <p:spPr>
          <a:xfrm>
            <a:off x="530942" y="12693886"/>
            <a:ext cx="17278097" cy="6867600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500" b="1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47675" marR="484499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37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Layout Details: </a:t>
            </a:r>
            <a:r>
              <a:rPr lang="en-IN" sz="37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poster size is </a:t>
            </a:r>
            <a:r>
              <a:rPr lang="en-IN" sz="3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ISO A0, </a:t>
            </a:r>
            <a:r>
              <a:rPr lang="en-IN" sz="37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Font family is serif Palatino Linotype for readability. Use serif family for consistency. Title font size is 60, Author font is 45 and affiliation font is 35.</a:t>
            </a:r>
            <a:r>
              <a:rPr lang="en-IN" sz="37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r>
              <a:rPr lang="en-IN" sz="3700" b="1" dirty="0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box titles and numbers are only indicative and can be added or reduced</a:t>
            </a:r>
            <a:r>
              <a:rPr lang="en-IN" sz="37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r>
              <a:rPr lang="en-IN" sz="37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Body font size is 37, box title font size is 55.</a:t>
            </a:r>
            <a:endParaRPr sz="37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47675" marR="484499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7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723900" marR="484499" lvl="0" indent="-234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alatino Linotype"/>
              <a:buChar char="●"/>
            </a:pPr>
            <a:r>
              <a:rPr lang="en-IN" sz="37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Title block with logos and SATVA 2026 need not be edited or changed.</a:t>
            </a:r>
            <a:endParaRPr sz="37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723900" marR="484499" lvl="0" indent="-234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alatino Linotype"/>
              <a:buChar char="●"/>
            </a:pPr>
            <a:r>
              <a:rPr lang="en-IN" sz="37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Images can be added as required. If bigger infographics are present, the boxes can be removed for accommodating the bigger picture.</a:t>
            </a:r>
            <a:endParaRPr sz="37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45000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2" name="Google Shape;88;p13">
            <a:extLst>
              <a:ext uri="{FF2B5EF4-FFF2-40B4-BE49-F238E27FC236}">
                <a16:creationId xmlns:a16="http://schemas.microsoft.com/office/drawing/2014/main" id="{02F2BB40-9F97-1453-8C66-3942CA1F431D}"/>
              </a:ext>
            </a:extLst>
          </p:cNvPr>
          <p:cNvSpPr/>
          <p:nvPr/>
        </p:nvSpPr>
        <p:spPr>
          <a:xfrm>
            <a:off x="18042325" y="12693886"/>
            <a:ext cx="11758774" cy="6867600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45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Narrow Column. Perfect for lists.</a:t>
            </a:r>
            <a:endParaRPr sz="35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40000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Goal A</a:t>
            </a:r>
            <a:endParaRPr sz="35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40000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Goal B</a:t>
            </a:r>
            <a:endParaRPr sz="35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40000" marR="0" lvl="0" indent="-180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Goal C</a:t>
            </a:r>
            <a:endParaRPr sz="3500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4" name="Google Shape;90;p13">
            <a:extLst>
              <a:ext uri="{FF2B5EF4-FFF2-40B4-BE49-F238E27FC236}">
                <a16:creationId xmlns:a16="http://schemas.microsoft.com/office/drawing/2014/main" id="{385A9C92-6695-C56C-B0C0-98273A03BBB5}"/>
              </a:ext>
            </a:extLst>
          </p:cNvPr>
          <p:cNvSpPr/>
          <p:nvPr/>
        </p:nvSpPr>
        <p:spPr>
          <a:xfrm>
            <a:off x="530942" y="36761788"/>
            <a:ext cx="17277998" cy="5664907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5" name="Google Shape;91;p13">
            <a:extLst>
              <a:ext uri="{FF2B5EF4-FFF2-40B4-BE49-F238E27FC236}">
                <a16:creationId xmlns:a16="http://schemas.microsoft.com/office/drawing/2014/main" id="{33AD56D6-7A75-D2E7-9533-10DC913D0BAC}"/>
              </a:ext>
            </a:extLst>
          </p:cNvPr>
          <p:cNvSpPr/>
          <p:nvPr/>
        </p:nvSpPr>
        <p:spPr>
          <a:xfrm>
            <a:off x="530942" y="35175057"/>
            <a:ext cx="17293380" cy="14687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93;p13">
            <a:extLst>
              <a:ext uri="{FF2B5EF4-FFF2-40B4-BE49-F238E27FC236}">
                <a16:creationId xmlns:a16="http://schemas.microsoft.com/office/drawing/2014/main" id="{9FF47C96-78A4-FAF4-C609-FAA893DD8B8E}"/>
              </a:ext>
            </a:extLst>
          </p:cNvPr>
          <p:cNvSpPr/>
          <p:nvPr/>
        </p:nvSpPr>
        <p:spPr>
          <a:xfrm>
            <a:off x="530942" y="10678991"/>
            <a:ext cx="17277997" cy="185224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94;p13">
            <a:extLst>
              <a:ext uri="{FF2B5EF4-FFF2-40B4-BE49-F238E27FC236}">
                <a16:creationId xmlns:a16="http://schemas.microsoft.com/office/drawing/2014/main" id="{6F8E29B1-18EF-4AEE-BC65-9F1627019A8E}"/>
              </a:ext>
            </a:extLst>
          </p:cNvPr>
          <p:cNvSpPr txBox="1"/>
          <p:nvPr/>
        </p:nvSpPr>
        <p:spPr>
          <a:xfrm>
            <a:off x="1993324" y="11054180"/>
            <a:ext cx="69342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i="0" u="none" strike="noStrike" cap="none" dirty="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1. INTRODUCTION</a:t>
            </a:r>
            <a:endParaRPr dirty="0"/>
          </a:p>
        </p:txBody>
      </p:sp>
      <p:sp>
        <p:nvSpPr>
          <p:cNvPr id="30" name="Google Shape;96;p13">
            <a:extLst>
              <a:ext uri="{FF2B5EF4-FFF2-40B4-BE49-F238E27FC236}">
                <a16:creationId xmlns:a16="http://schemas.microsoft.com/office/drawing/2014/main" id="{6ED0C0E3-FA4A-63F8-A4BF-E527F14D4D3B}"/>
              </a:ext>
            </a:extLst>
          </p:cNvPr>
          <p:cNvSpPr/>
          <p:nvPr/>
        </p:nvSpPr>
        <p:spPr>
          <a:xfrm>
            <a:off x="18042325" y="10679012"/>
            <a:ext cx="11758774" cy="1852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97;p13">
            <a:extLst>
              <a:ext uri="{FF2B5EF4-FFF2-40B4-BE49-F238E27FC236}">
                <a16:creationId xmlns:a16="http://schemas.microsoft.com/office/drawing/2014/main" id="{21EC411F-8140-DF37-B5CF-AFD5DB6175F9}"/>
              </a:ext>
            </a:extLst>
          </p:cNvPr>
          <p:cNvSpPr txBox="1"/>
          <p:nvPr/>
        </p:nvSpPr>
        <p:spPr>
          <a:xfrm>
            <a:off x="18671426" y="11054337"/>
            <a:ext cx="66846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i="0" u="none" strike="noStrike" cap="none" dirty="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2. OBJECTIVES</a:t>
            </a:r>
            <a:endParaRPr dirty="0"/>
          </a:p>
        </p:txBody>
      </p:sp>
      <p:sp>
        <p:nvSpPr>
          <p:cNvPr id="33" name="Google Shape;99;p13">
            <a:extLst>
              <a:ext uri="{FF2B5EF4-FFF2-40B4-BE49-F238E27FC236}">
                <a16:creationId xmlns:a16="http://schemas.microsoft.com/office/drawing/2014/main" id="{5B018D3E-3A75-F56B-352E-24AACABB0060}"/>
              </a:ext>
            </a:extLst>
          </p:cNvPr>
          <p:cNvSpPr/>
          <p:nvPr/>
        </p:nvSpPr>
        <p:spPr>
          <a:xfrm>
            <a:off x="18042350" y="28330273"/>
            <a:ext cx="11758750" cy="6691830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54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</p:txBody>
      </p:sp>
      <p:sp>
        <p:nvSpPr>
          <p:cNvPr id="34" name="Google Shape;100;p13">
            <a:extLst>
              <a:ext uri="{FF2B5EF4-FFF2-40B4-BE49-F238E27FC236}">
                <a16:creationId xmlns:a16="http://schemas.microsoft.com/office/drawing/2014/main" id="{E664B667-4E8B-E183-BD74-241BB62340E4}"/>
              </a:ext>
            </a:extLst>
          </p:cNvPr>
          <p:cNvSpPr/>
          <p:nvPr/>
        </p:nvSpPr>
        <p:spPr>
          <a:xfrm>
            <a:off x="18011086" y="26815791"/>
            <a:ext cx="11790013" cy="139647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101;p13">
            <a:extLst>
              <a:ext uri="{FF2B5EF4-FFF2-40B4-BE49-F238E27FC236}">
                <a16:creationId xmlns:a16="http://schemas.microsoft.com/office/drawing/2014/main" id="{5AAAB711-7C63-7A2D-C730-63E34CB23773}"/>
              </a:ext>
            </a:extLst>
          </p:cNvPr>
          <p:cNvSpPr txBox="1"/>
          <p:nvPr/>
        </p:nvSpPr>
        <p:spPr>
          <a:xfrm>
            <a:off x="20023705" y="27118740"/>
            <a:ext cx="69342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i="0" u="none" strike="noStrike" cap="none" dirty="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4. METHOD B</a:t>
            </a:r>
            <a:endParaRPr dirty="0"/>
          </a:p>
        </p:txBody>
      </p:sp>
      <p:sp>
        <p:nvSpPr>
          <p:cNvPr id="37" name="Google Shape;110;p13">
            <a:extLst>
              <a:ext uri="{FF2B5EF4-FFF2-40B4-BE49-F238E27FC236}">
                <a16:creationId xmlns:a16="http://schemas.microsoft.com/office/drawing/2014/main" id="{9447CE02-812D-4C74-3174-C8BE14E9CB3F}"/>
              </a:ext>
            </a:extLst>
          </p:cNvPr>
          <p:cNvSpPr/>
          <p:nvPr/>
        </p:nvSpPr>
        <p:spPr>
          <a:xfrm>
            <a:off x="18042350" y="36784709"/>
            <a:ext cx="11758750" cy="5642230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54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</p:txBody>
      </p:sp>
      <p:sp>
        <p:nvSpPr>
          <p:cNvPr id="38" name="Google Shape;111;p13">
            <a:extLst>
              <a:ext uri="{FF2B5EF4-FFF2-40B4-BE49-F238E27FC236}">
                <a16:creationId xmlns:a16="http://schemas.microsoft.com/office/drawing/2014/main" id="{62570514-1F8D-B3B2-B21D-BB04EFF8BD7C}"/>
              </a:ext>
            </a:extLst>
          </p:cNvPr>
          <p:cNvSpPr/>
          <p:nvPr/>
        </p:nvSpPr>
        <p:spPr>
          <a:xfrm>
            <a:off x="18042325" y="35175205"/>
            <a:ext cx="11758774" cy="149152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116;p13">
            <a:extLst>
              <a:ext uri="{FF2B5EF4-FFF2-40B4-BE49-F238E27FC236}">
                <a16:creationId xmlns:a16="http://schemas.microsoft.com/office/drawing/2014/main" id="{B9AE13E1-E372-0848-DBCB-E3D4DE4091B8}"/>
              </a:ext>
            </a:extLst>
          </p:cNvPr>
          <p:cNvSpPr/>
          <p:nvPr/>
        </p:nvSpPr>
        <p:spPr>
          <a:xfrm>
            <a:off x="530942" y="21277674"/>
            <a:ext cx="17277997" cy="13744429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45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7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sample block with image can be formatted like this</a:t>
            </a:r>
            <a:endParaRPr sz="37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3" name="Google Shape;117;p13">
            <a:extLst>
              <a:ext uri="{FF2B5EF4-FFF2-40B4-BE49-F238E27FC236}">
                <a16:creationId xmlns:a16="http://schemas.microsoft.com/office/drawing/2014/main" id="{DBE22CB6-49A3-68F8-2D2A-DF0B27583F35}"/>
              </a:ext>
            </a:extLst>
          </p:cNvPr>
          <p:cNvSpPr/>
          <p:nvPr/>
        </p:nvSpPr>
        <p:spPr>
          <a:xfrm>
            <a:off x="530942" y="19799221"/>
            <a:ext cx="17277997" cy="136046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118;p13">
            <a:extLst>
              <a:ext uri="{FF2B5EF4-FFF2-40B4-BE49-F238E27FC236}">
                <a16:creationId xmlns:a16="http://schemas.microsoft.com/office/drawing/2014/main" id="{D48F559C-6572-BFA2-3CFF-E72B7065FFE6}"/>
              </a:ext>
            </a:extLst>
          </p:cNvPr>
          <p:cNvSpPr txBox="1"/>
          <p:nvPr/>
        </p:nvSpPr>
        <p:spPr>
          <a:xfrm>
            <a:off x="1722133" y="20037816"/>
            <a:ext cx="6934200" cy="8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i="0" u="none" strike="noStrike" cap="none" dirty="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5. RESULTS</a:t>
            </a:r>
            <a:endParaRPr dirty="0"/>
          </a:p>
        </p:txBody>
      </p:sp>
      <p:sp>
        <p:nvSpPr>
          <p:cNvPr id="45" name="Google Shape;120;p13">
            <a:extLst>
              <a:ext uri="{FF2B5EF4-FFF2-40B4-BE49-F238E27FC236}">
                <a16:creationId xmlns:a16="http://schemas.microsoft.com/office/drawing/2014/main" id="{F7AE253B-0BCF-78B7-F5EC-2833245B4C10}"/>
              </a:ext>
            </a:extLst>
          </p:cNvPr>
          <p:cNvSpPr/>
          <p:nvPr/>
        </p:nvSpPr>
        <p:spPr>
          <a:xfrm>
            <a:off x="18042350" y="21164834"/>
            <a:ext cx="11758750" cy="5487877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45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</p:txBody>
      </p:sp>
      <p:sp>
        <p:nvSpPr>
          <p:cNvPr id="46" name="Google Shape;121;p13">
            <a:extLst>
              <a:ext uri="{FF2B5EF4-FFF2-40B4-BE49-F238E27FC236}">
                <a16:creationId xmlns:a16="http://schemas.microsoft.com/office/drawing/2014/main" id="{4F13555B-C311-C14A-4929-2D33F6FA0830}"/>
              </a:ext>
            </a:extLst>
          </p:cNvPr>
          <p:cNvSpPr/>
          <p:nvPr/>
        </p:nvSpPr>
        <p:spPr>
          <a:xfrm>
            <a:off x="18042325" y="19799221"/>
            <a:ext cx="11758774" cy="12476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7" name="Google Shape;122;p13">
            <a:extLst>
              <a:ext uri="{FF2B5EF4-FFF2-40B4-BE49-F238E27FC236}">
                <a16:creationId xmlns:a16="http://schemas.microsoft.com/office/drawing/2014/main" id="{C8E839A6-BD35-E4F8-D323-04B9A4087110}"/>
              </a:ext>
            </a:extLst>
          </p:cNvPr>
          <p:cNvSpPr txBox="1"/>
          <p:nvPr/>
        </p:nvSpPr>
        <p:spPr>
          <a:xfrm>
            <a:off x="20023705" y="20037816"/>
            <a:ext cx="69342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i="0" u="none" strike="noStrike" cap="none" dirty="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3. METHOD A</a:t>
            </a:r>
            <a:endParaRPr dirty="0"/>
          </a:p>
        </p:txBody>
      </p:sp>
      <p:sp>
        <p:nvSpPr>
          <p:cNvPr id="48" name="Google Shape;102;p13">
            <a:extLst>
              <a:ext uri="{FF2B5EF4-FFF2-40B4-BE49-F238E27FC236}">
                <a16:creationId xmlns:a16="http://schemas.microsoft.com/office/drawing/2014/main" id="{DC6F74E2-0703-1910-DAA4-3F9C51FE252C}"/>
              </a:ext>
            </a:extLst>
          </p:cNvPr>
          <p:cNvSpPr txBox="1"/>
          <p:nvPr/>
        </p:nvSpPr>
        <p:spPr>
          <a:xfrm>
            <a:off x="3736138" y="35531572"/>
            <a:ext cx="79521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 i="0" u="none" strike="noStrike" cap="none" dirty="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6. CONCLUSIONS </a:t>
            </a:r>
            <a:endParaRPr dirty="0"/>
          </a:p>
        </p:txBody>
      </p:sp>
      <p:sp>
        <p:nvSpPr>
          <p:cNvPr id="49" name="Google Shape;112;p13">
            <a:extLst>
              <a:ext uri="{FF2B5EF4-FFF2-40B4-BE49-F238E27FC236}">
                <a16:creationId xmlns:a16="http://schemas.microsoft.com/office/drawing/2014/main" id="{B288F1B1-53F8-D951-9101-A849E76CC0D0}"/>
              </a:ext>
            </a:extLst>
          </p:cNvPr>
          <p:cNvSpPr txBox="1"/>
          <p:nvPr/>
        </p:nvSpPr>
        <p:spPr>
          <a:xfrm>
            <a:off x="20610165" y="35485372"/>
            <a:ext cx="57606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500" b="1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7. REFERENCES</a:t>
            </a:r>
            <a:endParaRPr/>
          </a:p>
        </p:txBody>
      </p:sp>
      <p:pic>
        <p:nvPicPr>
          <p:cNvPr id="50" name="Google Shape;107;p13">
            <a:extLst>
              <a:ext uri="{FF2B5EF4-FFF2-40B4-BE49-F238E27FC236}">
                <a16:creationId xmlns:a16="http://schemas.microsoft.com/office/drawing/2014/main" id="{BB942374-5CFE-2245-06DC-EF69914963F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36138" y="25136438"/>
            <a:ext cx="7620000" cy="5772150"/>
          </a:xfrm>
          <a:prstGeom prst="rect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51" name="Google Shape;108;p13">
            <a:extLst>
              <a:ext uri="{FF2B5EF4-FFF2-40B4-BE49-F238E27FC236}">
                <a16:creationId xmlns:a16="http://schemas.microsoft.com/office/drawing/2014/main" id="{1219583D-CAC4-70F3-EAA6-D42B900BA5D5}"/>
              </a:ext>
            </a:extLst>
          </p:cNvPr>
          <p:cNvSpPr txBox="1"/>
          <p:nvPr/>
        </p:nvSpPr>
        <p:spPr>
          <a:xfrm>
            <a:off x="3720788" y="31138213"/>
            <a:ext cx="762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Figure 1:</a:t>
            </a:r>
            <a:r>
              <a:rPr lang="en-IN" sz="3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Main Result Data Font size (30)</a:t>
            </a:r>
            <a:endParaRPr sz="30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C884B1-0ECC-24F0-2BEB-E5C710372E47}"/>
              </a:ext>
            </a:extLst>
          </p:cNvPr>
          <p:cNvSpPr/>
          <p:nvPr/>
        </p:nvSpPr>
        <p:spPr>
          <a:xfrm>
            <a:off x="22034090" y="7214619"/>
            <a:ext cx="7840208" cy="1379051"/>
          </a:xfrm>
          <a:prstGeom prst="roundRect">
            <a:avLst>
              <a:gd name="adj" fmla="val 34741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bg1"/>
                </a:solidFill>
              </a:rPr>
              <a:t>PRESENTER: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66E96F-8669-E9F0-6121-3F197367F3BB}"/>
              </a:ext>
            </a:extLst>
          </p:cNvPr>
          <p:cNvSpPr/>
          <p:nvPr/>
        </p:nvSpPr>
        <p:spPr>
          <a:xfrm>
            <a:off x="530942" y="7214619"/>
            <a:ext cx="4202423" cy="1379051"/>
          </a:xfrm>
          <a:prstGeom prst="roundRect">
            <a:avLst>
              <a:gd name="adj" fmla="val 34741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bg1"/>
                </a:solidFill>
              </a:rPr>
              <a:t>PAPER ID: </a:t>
            </a:r>
          </a:p>
        </p:txBody>
      </p:sp>
    </p:spTree>
    <p:extLst>
      <p:ext uri="{BB962C8B-B14F-4D97-AF65-F5344CB8AC3E}">
        <p14:creationId xmlns:p14="http://schemas.microsoft.com/office/powerpoint/2010/main" val="207006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Palatino Linotype"/>
        <a:ea typeface=""/>
        <a:cs typeface=""/>
      </a:majorFont>
      <a:minorFont>
        <a:latin typeface="Palatino Linotyp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211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Palatino Linotype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ISSAC JOHNSON</dc:creator>
  <cp:lastModifiedBy>Silpa Sekhar</cp:lastModifiedBy>
  <cp:revision>6</cp:revision>
  <dcterms:created xsi:type="dcterms:W3CDTF">2026-05-21T06:21:45Z</dcterms:created>
  <dcterms:modified xsi:type="dcterms:W3CDTF">2026-05-24T07:01:14Z</dcterms:modified>
</cp:coreProperties>
</file>